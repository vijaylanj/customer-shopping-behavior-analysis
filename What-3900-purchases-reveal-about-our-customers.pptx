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Bitter" panose="020B0604020202020204" charset="0"/>
      <p:regular r:id="rId13"/>
    </p:embeddedFont>
    <p:embeddedFont>
      <p:font typeface="Bitter SemiBold" panose="020B0604020202020204" charset="0"/>
      <p:regular r:id="rId14"/>
    </p:embeddedFont>
    <p:embeddedFont>
      <p:font typeface="Jost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966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710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29" y="1778000"/>
            <a:ext cx="8038899" cy="2430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58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What 3,900 purchases reveal about our customers</a:t>
            </a:r>
            <a:endParaRPr lang="en-US" sz="5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ANALYSIS SCOPE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analysis covers 3,900 purchases across 18 attributes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455565"/>
            <a:ext cx="5257668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3,900</a:t>
            </a:r>
            <a:endParaRPr lang="en-US" sz="11000" dirty="0"/>
          </a:p>
        </p:txBody>
      </p:sp>
      <p:sp>
        <p:nvSpPr>
          <p:cNvPr id="5" name="Text 3"/>
          <p:cNvSpPr/>
          <p:nvPr/>
        </p:nvSpPr>
        <p:spPr>
          <a:xfrm>
            <a:off x="609585" y="3957340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Purchases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4363740"/>
            <a:ext cx="54862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Demographics, purchase details and shopping behavior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4442" y="2331145"/>
            <a:ext cx="5257668" cy="1397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1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18</a:t>
            </a:r>
            <a:endParaRPr lang="en-US" sz="11000" dirty="0"/>
          </a:p>
        </p:txBody>
      </p:sp>
      <p:sp>
        <p:nvSpPr>
          <p:cNvPr id="8" name="Text 6"/>
          <p:cNvSpPr/>
          <p:nvPr/>
        </p:nvSpPr>
        <p:spPr>
          <a:xfrm>
            <a:off x="6324442" y="3832920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Attributes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24442" y="4239320"/>
            <a:ext cx="5257668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Guide decisions on spending, segments, products and subscriptions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5777309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09585" y="59995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Only 37 review ratings were missing, filled with the category median.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089498" y="1494036"/>
            <a:ext cx="12700" cy="4080073"/>
          </a:xfrm>
          <a:prstGeom prst="rect">
            <a:avLst/>
          </a:prstGeom>
          <a:solidFill>
            <a:srgbClr val="4A36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09585" y="6466086"/>
            <a:ext cx="34995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3,900 purchases reveal about our customers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1514346" y="6466086"/>
            <a:ext cx="67734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METHOD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Python cleaned the data, SQL answered ten business questions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94036"/>
            <a:ext cx="797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1742976"/>
            <a:ext cx="2514537" cy="19050"/>
          </a:xfrm>
          <a:prstGeom prst="rect">
            <a:avLst/>
          </a:prstGeom>
          <a:solidFill>
            <a:srgbClr val="1710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09585" y="3606502"/>
            <a:ext cx="25145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Cleaned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4012902"/>
            <a:ext cx="251453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Cleaned and standardized in Python with pandas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8914" y="1494036"/>
            <a:ext cx="82190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8914" y="1742976"/>
            <a:ext cx="2514537" cy="19050"/>
          </a:xfrm>
          <a:prstGeom prst="rect">
            <a:avLst/>
          </a:prstGeom>
          <a:solidFill>
            <a:srgbClr val="1710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28914" y="3606502"/>
            <a:ext cx="25145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Engineered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3428914" y="4012902"/>
            <a:ext cx="251453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Engineered age groups and purchase frequency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48244" y="1494036"/>
            <a:ext cx="8249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8244" y="1742976"/>
            <a:ext cx="2514537" cy="19050"/>
          </a:xfrm>
          <a:prstGeom prst="rect">
            <a:avLst/>
          </a:prstGeom>
          <a:solidFill>
            <a:srgbClr val="1710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248244" y="3482082"/>
            <a:ext cx="25145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Dropped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248244" y="3888482"/>
            <a:ext cx="251453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Dropped promo code as redundant with discount applied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67573" y="1494036"/>
            <a:ext cx="82974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67573" y="1742976"/>
            <a:ext cx="2514537" cy="19050"/>
          </a:xfrm>
          <a:prstGeom prst="rect">
            <a:avLst/>
          </a:prstGeom>
          <a:solidFill>
            <a:srgbClr val="1710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067573" y="3606502"/>
            <a:ext cx="2514537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Loaded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067573" y="4012902"/>
            <a:ext cx="251453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Loaded into PostgreSQL for analysis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9585" y="6466086"/>
            <a:ext cx="34995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3,900 purchases reveal about our customers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11171" y="6466086"/>
            <a:ext cx="68052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CUSTOMER SNAPSHOT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average purchase is $59.76 with a 3.75 rating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932410"/>
            <a:ext cx="5257668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$59.76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609585" y="4154785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Average purchase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585" y="4561185"/>
            <a:ext cx="5486263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3,900 customers; purchases range from $20 to $100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324442" y="2932410"/>
            <a:ext cx="5257668" cy="1117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88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3.75</a:t>
            </a:r>
            <a:endParaRPr lang="en-US" sz="8800" dirty="0"/>
          </a:p>
        </p:txBody>
      </p:sp>
      <p:sp>
        <p:nvSpPr>
          <p:cNvPr id="8" name="Text 6"/>
          <p:cNvSpPr/>
          <p:nvPr/>
        </p:nvSpPr>
        <p:spPr>
          <a:xfrm>
            <a:off x="6324442" y="4154785"/>
            <a:ext cx="5257668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Average rating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324442" y="4561185"/>
            <a:ext cx="5257668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Average age 44; 68% of purchases by men (2,652)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9498" y="1494036"/>
            <a:ext cx="12700" cy="4754364"/>
          </a:xfrm>
          <a:prstGeom prst="rect">
            <a:avLst/>
          </a:prstGeom>
          <a:solidFill>
            <a:srgbClr val="4A36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09585" y="6466086"/>
            <a:ext cx="34995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3,900 purchases reveal about our customers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509385" y="6466086"/>
            <a:ext cx="68231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5872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REVENUE BY GENDER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85527"/>
            <a:ext cx="10972526" cy="893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Male customers generate about twice the revenue of female customers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938238"/>
            <a:ext cx="10667733" cy="3619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5760938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09585" y="5983188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Male: $157,890 · Female: $75,191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9585" y="6466086"/>
            <a:ext cx="34995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3,900 purchases reveal about our customers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15635" y="6466086"/>
            <a:ext cx="6760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49412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REVENUE BY AGE GROUP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09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Young adults lead revenue, but age groups sit close together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14798"/>
            <a:ext cx="10667733" cy="3619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5537498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09585" y="5759748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Young adults lead, yet all four groups are within about $6K.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9585" y="6466086"/>
            <a:ext cx="34995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3,900 purchases reveal about our customers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08988" y="6466086"/>
            <a:ext cx="68270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PRODUCT REVENUE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Clothing and accessories drive the most revenue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494036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Dashboard estimates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585" y="3029843"/>
            <a:ext cx="274313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CLOTHING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09585" y="3289498"/>
            <a:ext cx="2514537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$90K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09585" y="4134743"/>
            <a:ext cx="2743131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Roughly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581310" y="3029843"/>
            <a:ext cx="251453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ACCESSORIES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581310" y="3289498"/>
            <a:ext cx="2285943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$70K</a:t>
            </a:r>
            <a:endParaRPr lang="en-US" sz="5200" dirty="0"/>
          </a:p>
        </p:txBody>
      </p:sp>
      <p:sp>
        <p:nvSpPr>
          <p:cNvPr id="10" name="Text 8"/>
          <p:cNvSpPr/>
          <p:nvPr/>
        </p:nvSpPr>
        <p:spPr>
          <a:xfrm>
            <a:off x="3581310" y="4134743"/>
            <a:ext cx="251453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About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324442" y="3029843"/>
            <a:ext cx="251453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FOOTWEAR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24442" y="3289498"/>
            <a:ext cx="2285943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$30K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6324442" y="4134743"/>
            <a:ext cx="251453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About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067573" y="3029843"/>
            <a:ext cx="251453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OUTERWEAR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067573" y="3289498"/>
            <a:ext cx="2514537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$15K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9067573" y="4134743"/>
            <a:ext cx="251453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About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09585" y="5777309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09585" y="5999559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sellers: Blouse, Pants, Jewelry, Sandals, Jacket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46366" y="1839416"/>
            <a:ext cx="12700" cy="3734693"/>
          </a:xfrm>
          <a:prstGeom prst="rect">
            <a:avLst/>
          </a:prstGeom>
          <a:solidFill>
            <a:srgbClr val="4A36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089498" y="1839416"/>
            <a:ext cx="12700" cy="3734693"/>
          </a:xfrm>
          <a:prstGeom prst="rect">
            <a:avLst/>
          </a:prstGeom>
          <a:solidFill>
            <a:srgbClr val="4A36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832629" y="1839416"/>
            <a:ext cx="12700" cy="3734693"/>
          </a:xfrm>
          <a:prstGeom prst="rect">
            <a:avLst/>
          </a:prstGeom>
          <a:solidFill>
            <a:srgbClr val="4A36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09585" y="6466086"/>
            <a:ext cx="34995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3,900 purchases reveal about our customers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19604" y="6466086"/>
            <a:ext cx="67209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49412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RATED PRODUCTS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09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Gloves, sandals and boots earn the highest ratings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14798"/>
            <a:ext cx="10667733" cy="3619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5537498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09585" y="5759748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Top five products all rate between 3.78 and 3.86.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9585" y="6466086"/>
            <a:ext cx="34995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3,900 purchases reveal about our customers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07301" y="6466086"/>
            <a:ext cx="684394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49412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DISCOUNT RATE BY PRODUCT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109067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Nearly half of hats, sneakers and coats sell on discount</a:t>
            </a:r>
            <a:endParaRPr lang="en-US" sz="32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1714798"/>
            <a:ext cx="10667733" cy="3619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585" y="5537498"/>
            <a:ext cx="10972526" cy="19050"/>
          </a:xfrm>
          <a:prstGeom prst="roundRect">
            <a:avLst>
              <a:gd name="adj" fmla="val 49999"/>
            </a:avLst>
          </a:prstGeom>
          <a:solidFill>
            <a:srgbClr val="4A367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09585" y="5759748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Five products sell on discount about half the time.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09585" y="6466086"/>
            <a:ext cx="34995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3,900 purchases reveal about our customers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509186" y="6466086"/>
            <a:ext cx="68250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50" kern="100" spc="63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SUBSCRIPTIONS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69255"/>
            <a:ext cx="10972526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2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Subscribers are only 27% of customers and spend the same</a:t>
            </a:r>
            <a:endParaRPr lang="en-US" sz="3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116237"/>
          <a:ext cx="10972526" cy="3351136"/>
        </p:xfrm>
        <a:graphic>
          <a:graphicData uri="http://schemas.openxmlformats.org/drawingml/2006/table">
            <a:tbl>
              <a:tblPr/>
              <a:tblGrid>
                <a:gridCol w="39500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11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112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157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Subscribers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Non-subscribers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5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Customers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1,053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2,847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21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Average spend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FFFFFF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$59.49</a:t>
                      </a:r>
                      <a:endParaRPr lang="en-US" sz="20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2000" dirty="0">
                          <a:solidFill>
                            <a:srgbClr val="B79CF5"/>
                          </a:solidFill>
                          <a:latin typeface="Jost" pitchFamily="34" charset="0"/>
                          <a:ea typeface="Jost" pitchFamily="34" charset="-122"/>
                          <a:cs typeface="Jost" pitchFamily="34" charset="-120"/>
                        </a:rPr>
                        <a:t>$59.87</a:t>
                      </a:r>
                      <a:endParaRPr lang="en-US" sz="2000" dirty="0">
                        <a:latin typeface="Jost" charset="0"/>
                        <a:ea typeface="Jost" charset="0"/>
                        <a:cs typeface="Jost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57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Revenue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$62,645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$170,436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5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Repeat buyers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958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2,518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228594" marR="228594" marT="203195" marB="203195" anchor="ctr">
                    <a:lnL w="12700" cap="flat" cmpd="sng" algn="ctr">
                      <a:solidFill>
                        <a:srgbClr val="4A36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71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6466086"/>
            <a:ext cx="34995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What 3,900 purchases reveal about our customers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11451839" y="6466086"/>
            <a:ext cx="739856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390</Words>
  <Application>Microsoft Office PowerPoint</Application>
  <PresentationFormat>Widescreen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Bitter</vt:lpstr>
      <vt:lpstr>Bitter SemiBold</vt:lpstr>
      <vt:lpstr>Jost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VIJAY</dc:creator>
  <cp:lastModifiedBy>Vijay Lanjewar</cp:lastModifiedBy>
  <cp:revision>1</cp:revision>
  <dcterms:created xsi:type="dcterms:W3CDTF">2026-10-03T08:35:57Z</dcterms:created>
  <dcterms:modified xsi:type="dcterms:W3CDTF">2026-10-03T08:37:02Z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2026-10-03T08:36:37Z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e846f4e4-625d-4101-a74f-7880d870a391</vt:lpwstr>
  </property>
  <property fmtid="{D5CDD505-2E9C-101B-9397-08002B2CF9AE}" pid="7" name="MSIP_Label_defa4170-0d19-0005-0004-bc88714345d2_ActionId">
    <vt:lpwstr>50e6de42-3135-449c-a923-d73f7796a7a2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